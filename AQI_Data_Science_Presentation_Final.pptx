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582583"/>
                </a:solidFill>
                <a:latin typeface="Segoe UI"/>
              </a:defRPr>
            </a:pPr>
            <a:r>
              <a:t>RAJALAKSHMI ENGINEERING COLLEGE</a:t>
            </a:r>
          </a:p>
          <a:p>
            <a:pPr algn="ctr">
              <a:defRPr sz="1300">
                <a:solidFill>
                  <a:srgbClr val="646473"/>
                </a:solidFill>
                <a:latin typeface="Segoe UI"/>
              </a:defRPr>
            </a:pPr>
            <a:r>
              <a:t>Approved by AICTE | Affiliated to Anna University | Accredited by NAAC</a:t>
            </a:r>
            <a:br/>
            <a:r>
              <a:t>Department of Information Technology</a:t>
            </a:r>
          </a:p>
          <a:p>
            <a:pPr algn="ctr">
              <a:defRPr sz="1400" b="1">
                <a:solidFill>
                  <a:srgbClr val="7B3FAF"/>
                </a:solidFill>
                <a:latin typeface="Segoe UI"/>
              </a:defRPr>
            </a:pPr>
            <a:r>
              <a:t>IT23721 – DATA SCIENCE USING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3232D"/>
                </a:solidFill>
                <a:latin typeface="Segoe UI"/>
              </a:defRPr>
            </a:pPr>
            <a:r>
              <a:t>AIRSIGHT — Large-Scale Air Quality Index (AQI)</a:t>
            </a:r>
            <a:br/>
            <a:r>
              <a:t>Analytics &amp; Predictive Forecasting Platform</a:t>
            </a:r>
          </a:p>
          <a:p>
            <a:pPr algn="ctr">
              <a:defRPr sz="1500" i="1">
                <a:solidFill>
                  <a:srgbClr val="582583"/>
                </a:solidFill>
                <a:latin typeface="Segoe UI"/>
              </a:defRPr>
            </a:pPr>
            <a:r>
              <a:t>Spatio-Temporal Analysis, Inferential Statistics &amp; Machine Learning in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1206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23232D"/>
                </a:solidFill>
                <a:latin typeface="Segoe UI"/>
              </a:defRPr>
            </a:pPr>
            <a:r>
              <a:t>2116231001054</a:t>
            </a:r>
            <a:br/>
            <a:r>
              <a:t>[Your Name]</a:t>
            </a:r>
            <a:br/>
            <a:r>
              <a:t>B.Tech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 quality deterioration poses severe environmental and public health hazards across Indian metropolitan and industrial zones.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AIRSIGHT is an enterprise R-based analytics platform that processes, visualizes, statistically tests, and predicts multi-year AQI trends.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Dataset: 235,785 national environmental observations across 32 States and Union Territories from 2022 to 2025.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Engineered 16 ggplot2 analytical charts, conducted Welch's t-test and 3 One-Way ANOVAs, and trained multiple ML regression models.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Random Forest achieved the best prediction performance: RMSE 48.28, MAE 34.46, and R² 0.5412.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Deployed as an interactive 8-tab R Shiny dashboard with Plumber REST API endpoints for real-time monitoring.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235,785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raw observation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16 Charts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ggplot2 visualizations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32 States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spatio-temporal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475488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484632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R Shiny &amp; API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interactive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 Quality Index (AQI) standardizes complex pollutant concentrations into an easily understandable health scale (0–500).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Particulate matter (PM2.5, PM10) along with gases (NO₂, SO₂, CO, O₃) are the primary determinants of respiratory vulnerability.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Exploratory Data Analysis (EDA) reveals severe non-linear seasonal cycles and spatial clusters across regions.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Manual analysis across massive multi-sensor CSV datasets is slow, error-prone, and lacks standardized statistical rigor.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R is selected for its best-in-class statistical foundations, ggplot2 graphical pipeline, and reactive Shiny dashboarding.</a:t>
            </a:r>
          </a:p>
          <a:p>
            <a:pPr>
              <a:spcAft>
                <a:spcPts val="1000"/>
              </a:spcAft>
              <a:defRPr sz="1400">
                <a:solidFill>
                  <a:srgbClr val="23232D"/>
                </a:solidFill>
                <a:latin typeface="Segoe UI"/>
              </a:defRPr>
            </a:pPr>
            <a:r>
              <a:t>•  AIRSIGHT delivers a unified platform integrating data cleaning, hypothesis testing, machine learning, and policy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1. Raw Sensor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1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2. Tidy Wrangling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3. Inferential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8583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4. ML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5" y="5120640"/>
            <a:ext cx="320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B3FAF"/>
                </a:solidFill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4846320"/>
            <a:ext cx="1920240" cy="1097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502920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582583"/>
                </a:solidFill>
                <a:latin typeface="Segoe UI"/>
              </a:defRPr>
            </a:pPr>
            <a:r>
              <a:t>5. R Shiny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132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Sensor Noise &amp; Incompleteness: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Environmental monitoring logs suffer from missing readings, sensor calibration shifts, and multi-gas discrepancies that corrupt baseline analysis.</a:t>
            </a:r>
          </a:p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Non-Linear Weather Dynamics: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Pollutant dispersion is heavily driven by seasonal atmospheric inversions, temperature dips in winter, and precipitation washout in monsoons.</a:t>
            </a:r>
          </a:p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Massive Regional Inequality: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Vast disparities exist between severe industrial zones (Indo-Gangetic plains) and pristine coastal regions, requiring localized modeling.</a:t>
            </a:r>
          </a:p>
          <a:p>
            <a:pPr>
              <a:defRPr sz="1400" b="1">
                <a:solidFill>
                  <a:srgbClr val="582583"/>
                </a:solidFill>
                <a:latin typeface="Segoe UI"/>
              </a:defRPr>
            </a:pPr>
            <a:r>
              <a:t>Lack of Automated Simulation:</a:t>
            </a:r>
          </a:p>
          <a:p>
            <a:pPr>
              <a:spcAft>
                <a:spcPts val="12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City planners lack interactive tools to forecast severe pollution spikes and simulate the real-time impact of emission reduction policies.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32004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82583"/>
                </a:solidFill>
                <a:latin typeface="Segoe UI"/>
              </a:defRPr>
            </a:pPr>
            <a:r>
              <a:t>44.5%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Non-Compliant Days</a:t>
            </a:r>
            <a:br/>
            <a:r>
              <a:t>(CPCB &gt;100 AQI Standard)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971800"/>
            <a:ext cx="32004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06324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82583"/>
                </a:solidFill>
                <a:latin typeface="Segoe UI"/>
              </a:defRPr>
            </a:pPr>
            <a:r>
              <a:t>82.2%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Exceeding WHO Limits</a:t>
            </a:r>
            <a:br/>
            <a:r>
              <a:t>(Daily AQI &gt; 50 Safe Level)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572000"/>
            <a:ext cx="32004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663440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582583"/>
                </a:solidFill>
                <a:latin typeface="Segoe UI"/>
              </a:defRPr>
            </a:pPr>
            <a:r>
              <a:t>1,125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Extreme Pollution Anomaly</a:t>
            </a:r>
            <a:br/>
            <a:r>
              <a:t>Events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1. Load 235,785 environmental records with schema validation.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2. Clean missing data, dates, and standardize pollutant categories.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3. Engineer features: month_num, is_winter, is_monsoon, pollutant_score.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4. Build 16 publication-grade ggplot2 exploratory visualizations.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5. Perform Welch's t-test and 3 One-Way ANOVAs (State, Month, Pollutant).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6. Calculate CPCB and WHO national &amp; global compliance benchmarks.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7. Train and compare Linear Regression vs Random Forest (80/20 split).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8. Implement a 7-day ARIMA / time-series forecasting model.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9. Develop a Health Policy &amp; Air Purifier CADR impact simulator.</a:t>
            </a:r>
          </a:p>
          <a:p>
            <a:pPr>
              <a:spcAft>
                <a:spcPts val="1600"/>
              </a:spcAft>
              <a:defRPr sz="1300">
                <a:solidFill>
                  <a:srgbClr val="23232D"/>
                </a:solidFill>
                <a:latin typeface="Segoe UI"/>
              </a:defRPr>
            </a:pPr>
            <a:r>
              <a:t>10. Deploy an 8-tab interactive R Shiny dashboard and Plumber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Architecture &amp; Pipeline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Primary statistical core in R 4.4 with 13 modular scripts.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Interactive R Shiny dashboard (8 reactive analytical tabs).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R Plumber REST API enabling extensible web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Statistical &amp; ML Analysis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Descriptive metrics (Mean, Median, SD, IQR, Outliers).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3x One-Way ANOVA tests across states, months, and pollutants.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Random Forest regression predicting AQI (RMSE 48.28, R² 0.54).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Practical Health Utility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AQLI life expectancy lost calculation (years/months lost).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Air purifier CADR sizing and indoor filtration estimator.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Municipal policy simulator estimating avoided ER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Dataset Scope &amp; Boundaries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Covers 32 Indian States/UTs across multi-year timeline.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Analyzes standard criteria pollutants: PM2.5, PM10, NO₂, SO₂, CO, O₃.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Static benchmark validated against live real-time API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468880"/>
                <a:gridCol w="2926080"/>
                <a:gridCol w="3322015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Method Used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Limitation / Proposed Advantage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Goyal et al. (2020)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Urban AQI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Univariate averages &amp; trendlines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Static analysis; no predictive machine learning.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Kumar et al. (2022)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Pollutant Inter-correlation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Linear OLS regression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Lacks seasonal controls and interactive UI.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AIRSIGHT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Full-Stack AQI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R, Random Forest, Shiny, Plumber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Overcomes gaps with 8-tab dashboard, ANOVA &amp; ML.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2976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Existing Approaches vs AIRSIGHT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Traditional systems rely on ad-hoc scripts to produce isolated, non-reproducible static charts.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Prior studies rarely combine inferential hypothesis testing (ANOVA) with machine learning ensembles.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 AIRSIGHT provides end-to-end automation: ingestion ➔ cleaning ➔ hypothesis testing ➔ ML ➔ interactive Shiny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201168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Hardware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Core i3 (2.0 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Core i5 / i7 / Ryzen 5+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8 GB to 16 GB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 GB Free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4 GB Free SSD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1024 x 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1920 x 1080 (Full HD)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 &amp; Utility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shiny / shinydashboard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Interactive multi-tab reactive web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tidyverse / dplyr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Data wrangling, cleaning &amp; pipeline transformations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ggplot2 / plotly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16 publication-quality statistical visualizations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randomForest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Non-linear ensemble predictive regression model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corrplot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Correlation matrix heatmaps &amp; collinearity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leaflet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Geospatial interactive mapping of station AQI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plumber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REST API backend serving JSON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062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Environment &amp; Tools Used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OS: Windows 10/11, macOS or Linux compatible.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R Version: R 4.4.2 / RStudio IDE (Tested).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Frontend Engine: React + Vite with Chart.js &amp; Leaflet.</a:t>
            </a:r>
          </a:p>
          <a:p>
            <a:pPr>
              <a:spcAft>
                <a:spcPts val="3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 Backend Engine: Plumber REST API on port 8000.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235,785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total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states &amp; 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4 Years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2022 –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92608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2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CPCB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official source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6 Criteria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PM2.5, PM10, gases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480560"/>
            <a:ext cx="1828800" cy="13258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572000"/>
            <a:ext cx="18288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82583"/>
                </a:solidFill>
                <a:latin typeface="Segoe UI"/>
              </a:defRPr>
            </a:pPr>
            <a:r>
              <a:t>Clean RDS</a:t>
            </a:r>
          </a:p>
          <a:p>
            <a:pPr algn="ctr">
              <a:defRPr sz="1000">
                <a:solidFill>
                  <a:srgbClr val="646473"/>
                </a:solidFill>
                <a:latin typeface="Segoe UI"/>
              </a:defRPr>
            </a:pPr>
            <a:r>
              <a:t>data objects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937760" y="1371600"/>
          <a:ext cx="6492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365760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Meaning &amp; Domain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Indian State or Union Territory (32 distinct)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City / Urban agglomeration location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aqi_value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Air Quality Index continuous value (0 to 500)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aqi_category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Good, Satisfactory, Moderate, Poor, Very Poor, Severe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prominent_pollutants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Dominant pollutant (PM2.5, PM10, NO₂, SO₂, O₃, 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date / month_num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Date/Int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Timestamp and month (1–12) for seasonal grouping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number_of_stations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Active monitoring stations reporting in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1. Ingestion &amp; Validation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Load raw CSV with defensive checks. Validate headers, column types, UTF-8 encoding, and row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2. Cleaning &amp; Engineering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Impute missing values, parse date timestamps, and engineer features: month_num, is_winter, is_monsoon, and pollutant_score.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3. Visual Exploratory Analysis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Construct 16 publication-grade ggplot2 visualizations covering distributions, spatial boxplots, and heatmaps.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4. Inferential Statistics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Conduct Welch's Two-Sample t-test and 3 One-Way ANOVAs (State, Month, Pollutant) to evaluate statistical significance.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3192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06908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5. ML &amp; Time-Series Modeling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Train Multiple Linear Regression and Random Forest (200 trees) on 80/20 split; generate 7-day ARIMA forecasts.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31920"/>
            <a:ext cx="3474720" cy="224028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069080"/>
            <a:ext cx="3200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2583"/>
                </a:solidFill>
                <a:latin typeface="Segoe UI"/>
              </a:defRPr>
            </a:pPr>
            <a:r>
              <a:t>6. Dashboard &amp; Deployment</a:t>
            </a:r>
          </a:p>
          <a:p>
            <a:pPr>
              <a:defRPr sz="1100">
                <a:solidFill>
                  <a:srgbClr val="23232D"/>
                </a:solidFill>
                <a:latin typeface="Segoe UI"/>
              </a:defRPr>
            </a:pPr>
            <a:r>
              <a:t>Deploy full-stack interactive R Shiny dashboard and Plumber REST API with policy simulation and health risk calculators.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Data Ingestion</a:t>
            </a:r>
            <a:br/>
            <a:r>
              <a:t>&amp;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CPCB / OpenAQ CSV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235,785 observations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Defensive loading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Schema &amp; type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1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Data Cleaning &amp;</a:t>
            </a:r>
            <a:br/>
            <a:r>
              <a:t>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1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NA &amp; outlier imputation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Date parsing &amp; temporal tags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Feature: is_winter, is_monsoon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Feature: pollutant_score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4064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Exploratory &amp;</a:t>
            </a:r>
            <a:br/>
            <a:r>
              <a:t>Inferential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4064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16 ggplot2 Visuals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Pearson/Spearman corr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3x One-Way ANOVAs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Welch's Two-Sample t-test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ML &amp; Predictive</a:t>
            </a:r>
            <a:br/>
            <a:r>
              <a:t>Modeling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0336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80/20 Train-Test split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Linear Regression model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Random Forest (ntree=200)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7-Day ARIMA forecast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36608" y="1371600"/>
            <a:ext cx="2011680" cy="73152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Output &amp; Decision</a:t>
            </a:r>
            <a:br/>
            <a:r>
              <a:t>Support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6608" y="2194560"/>
            <a:ext cx="2011680" cy="3657600"/>
          </a:xfrm>
          <a:prstGeom prst="rect">
            <a:avLst/>
          </a:prstGeom>
          <a:solidFill>
            <a:srgbClr val="F6F3FA"/>
          </a:solidFill>
          <a:ln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8-Tab R Shiny Dashboard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Plumber REST API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Policy Simulator (ER drop)</a:t>
            </a:r>
          </a:p>
          <a:p>
            <a:pPr>
              <a:spcAft>
                <a:spcPts val="800"/>
              </a:spcAft>
              <a:defRPr sz="1000">
                <a:solidFill>
                  <a:srgbClr val="23232D"/>
                </a:solidFill>
                <a:latin typeface="Segoe UI"/>
              </a:defRPr>
            </a:pPr>
            <a:r>
              <a:t>• AQLI &amp; CADR calculator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989320"/>
            <a:ext cx="10728655" cy="41148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Ingestion ➔ Data Cleaning ➔ Feature Engineering ➔ Inferential EDA ➔ ML Training ➔ R Shiny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AQI DISTRIBUTION &amp;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12</a:t>
            </a:r>
          </a:p>
        </p:txBody>
      </p:sp>
      <p:pic>
        <p:nvPicPr>
          <p:cNvPr id="5" name="Picture 4" descr="01_aqi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10.1 – National Distribution of AQI Values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Right-skewed distribution with overall mean of 111.9 and median of 94.0.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Heavy concentration between 50 and 150; long hazardous tail extending to 500.</a:t>
            </a:r>
          </a:p>
        </p:txBody>
      </p:sp>
      <p:pic>
        <p:nvPicPr>
          <p:cNvPr id="7" name="Picture 6" descr="02_aqi_category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10.2 – Frequency of AQI Category Classifications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Moderate (101–200) and Satisfactory (51–100) constitute the majority of observations.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Over 22,000+ exposure events fall in the dangerous Very Poor and Severe bands.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SPATIAL &amp; SEASONAL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13</a:t>
            </a:r>
          </a:p>
        </p:txBody>
      </p:sp>
      <p:pic>
        <p:nvPicPr>
          <p:cNvPr id="5" name="Picture 4" descr="03_top_state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10.3 – Top Most and Least Polluted States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Delhi (Mean: 206.4) and Jharkhand (164.9) exhibit the highest national pollution.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Mizoram (47.2), Sikkim (53.7) and Tamil Nadu (67.8) maintain the cleanest baselines.</a:t>
            </a:r>
          </a:p>
        </p:txBody>
      </p:sp>
      <p:pic>
        <p:nvPicPr>
          <p:cNvPr id="7" name="Picture 6" descr="04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10.4 – Monthly Seasonality &amp; Inversion Spikes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Severe winter peaks in November (161.0) and January (152.0) due to meteorological inversion.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Significant monsoon washout drop in July (62.8) and August (65.5).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POLLUTANTS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14</a:t>
            </a:r>
          </a:p>
        </p:txBody>
      </p:sp>
      <p:pic>
        <p:nvPicPr>
          <p:cNvPr id="5" name="Picture 4" descr="07_polluta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11.1 – Proportion of Dominant Prominent Pollutants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PM10 (47.1%) and PM2.5 (25.3%) drive over 72% of all daily primary index triggers.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Gaseous pollutants (NO₂, SO₂, CO) rarely act as the sole dominant trigger.</a:t>
            </a:r>
          </a:p>
        </p:txBody>
      </p:sp>
      <p:pic>
        <p:nvPicPr>
          <p:cNvPr id="7" name="Picture 6" descr="08_aqi_by_pollu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11.2 – Average AQI Impact by Dominant Pollutant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PM2.5-dominant days exhibit the highest severity, averaging an AQI of 168.0.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Combined PM2.5 + PM10 events average 130.0, far exceeding single PM10 (93.7).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DATA VISUALIZATION: HEATMAP &amp;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15</a:t>
            </a:r>
          </a:p>
        </p:txBody>
      </p:sp>
      <p:pic>
        <p:nvPicPr>
          <p:cNvPr id="5" name="Picture 4" descr="12_heatmap_state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12064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11.3 – Spatio-Temporal State vs Month Heatmap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Intense red clustering across northern states (Delhi, UP, Haryana) from Oct to Feb.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Consistent green (clean) baselines maintained year-round in coastal and north-eastern states.</a:t>
            </a:r>
          </a:p>
        </p:txBody>
      </p:sp>
      <p:pic>
        <p:nvPicPr>
          <p:cNvPr id="7" name="Picture 6" descr="14_rf_variabl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434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 i="1">
                <a:solidFill>
                  <a:srgbClr val="582583"/>
                </a:solidFill>
                <a:latin typeface="Segoe UI"/>
              </a:defRPr>
            </a:pPr>
            <a:r>
              <a:t>Figure 11.4 – Random Forest Variable Importance (%IncMSE)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pollutant_score (%IncMSE: 168.0) and state_mean_aqi (135.1) are the dominant drivers.</a:t>
            </a:r>
          </a:p>
          <a:p>
            <a:pPr>
              <a:spcAft>
                <a:spcPts val="2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Seasonal indicators (is_monsoon, is_winter) provide critical non-linear split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RESULTS: DATA PREPARATION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235,785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total records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32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states &amp; UTs mapped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55.5%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CPCB compliant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280160"/>
            <a:ext cx="2468880" cy="12801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371600"/>
            <a:ext cx="246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82583"/>
                </a:solidFill>
                <a:latin typeface="Segoe UI"/>
              </a:defRPr>
            </a:pPr>
            <a:r>
              <a:t>17.8%</a:t>
            </a:r>
          </a:p>
          <a:p>
            <a:pPr algn="ctr">
              <a:defRPr sz="1100">
                <a:solidFill>
                  <a:srgbClr val="646473"/>
                </a:solidFill>
                <a:latin typeface="Segoe UI"/>
              </a:defRPr>
            </a:pPr>
            <a:r>
              <a:t>WHO compliant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107286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Extreme Seasonal Disparity: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Winter months (Nov–Jan) experience 2.5x higher AQI than monsoon months (Jul–Aug), driven by boundary layer compression and stubble burning.</a:t>
            </a:r>
          </a:p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Particulate Matter Toxicity: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PM2.5-driven days average 168.0 AQI versus 93.7 for PM10, proving fine particulate matter is the primary driver of hazardous health spikes.</a:t>
            </a:r>
          </a:p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Severe Geographical Clustering: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North-Central states exceed national safety limits on over 68% of days, whereas North-Eastern states achieve &gt;90% WHO compliance.</a:t>
            </a:r>
          </a:p>
          <a:p>
            <a:pPr>
              <a:defRPr sz="1300" b="1">
                <a:solidFill>
                  <a:srgbClr val="582583"/>
                </a:solidFill>
                <a:latin typeface="Segoe UI"/>
              </a:defRPr>
            </a:pPr>
            <a:r>
              <a:t>Monitoring Station Density Effect:</a:t>
            </a:r>
          </a:p>
          <a:p>
            <a:pPr>
              <a:spcAft>
                <a:spcPts val="8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Cities with &gt;10 stations capture 18% higher peak anomalies, proving dense monitoring is essential for timely urban alerts.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RESULTS: 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0233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Welch's Two-Sample t-test (Delhi vs Jharkhand)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t = 11.12,  df = 1826.1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p-value &lt; 2.2e-16 (p &lt; 0.001)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95% Confidence Interval: [34.16, 48.79]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Delhi Mean AQI: 206.42 | Jharkhand Mean: 164.94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Null Hypothesis Rejected.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Delhi has a statistically significant higher pollution level (+41.48 AQI) than Jharkhand.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02336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582583"/>
                </a:solidFill>
                <a:latin typeface="Segoe UI"/>
              </a:defRPr>
            </a:pPr>
            <a:r>
              <a:t>One-Way ANOVA (3 Factorial Tests)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State Effect: F(31, 235753) = 1,674,  p &lt; 2e-16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Monthly Seasonality: F(11, 235773) = 5,403,  p &lt; 2e-16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Pollutant Type: F(48, 235736) = 1,644,  p &lt; 2e-16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All 3 Null Hypotheses Rejected (p &lt; 0.001).</a:t>
            </a:r>
          </a:p>
          <a:p>
            <a:pPr>
              <a:spcAft>
                <a:spcPts val="400"/>
              </a:spcAft>
              <a:defRPr sz="1200">
                <a:solidFill>
                  <a:srgbClr val="23232D"/>
                </a:solidFill>
                <a:latin typeface="Segoe UI"/>
              </a:defRPr>
            </a:pPr>
            <a:r>
              <a:t>• Geography, seasonal weather, and pollutant chemical type all fundamentally alter AQI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82583"/>
                </a:solidFill>
                <a:latin typeface="Segoe UI"/>
              </a:defRPr>
            </a:pPr>
            <a:r>
              <a:t>In simple words: All differences are real and statistically proven (p &lt; 0.001). Location, season, and pollutant mix are definitive drivers of air quality.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582583"/>
          </a:solidFill>
          <a:ln>
            <a:solidFill>
              <a:srgbClr val="5825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RESULTS: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73"/>
                </a:solidFill>
                <a:latin typeface="Segoe UI"/>
              </a:defRPr>
            </a:pPr>
            <a: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58258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41.4362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55.6092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3232D"/>
                          </a:solidFill>
                          <a:latin typeface="Segoe UI"/>
                        </a:defRPr>
                      </a:pPr>
                      <a:r>
                        <a:t>0.3901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34.4654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48.2871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82583"/>
                          </a:solidFill>
                          <a:latin typeface="Segoe UI"/>
                        </a:defRPr>
                      </a:pPr>
                      <a:r>
                        <a:t>0.5412</a:t>
                      </a:r>
                    </a:p>
                  </a:txBody>
                  <a:tcPr>
                    <a:solidFill>
                      <a:srgbClr val="F8F6FC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16_rf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93776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2918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Random Forest achieves superior performance: lowest MAE (34.46) and RMSE (48.28), with highest R² (0.5412).</a:t>
            </a:r>
          </a:p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Random Forest explains 54.1% of the total variance across 235,785 multi-sensor observations.</a:t>
            </a:r>
          </a:p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Key drivers: pollutant_score, state_mean_aqi, and seasonal indicator (is_winter / is_monsoon).</a:t>
            </a:r>
          </a:p>
          <a:p>
            <a:pPr>
              <a:spcAft>
                <a:spcPts val="600"/>
              </a:spcAft>
              <a:defRPr sz="1100">
                <a:solidFill>
                  <a:srgbClr val="23232D"/>
                </a:solidFill>
                <a:latin typeface="Segoe UI"/>
              </a:defRPr>
            </a:pPr>
            <a:r>
              <a:t>• Model embedded as reactive engine in R Shiny dashboard and served via Plumber REST API.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82583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2000" i="1">
                <a:solidFill>
                  <a:srgbClr val="646473"/>
                </a:solidFill>
                <a:latin typeface="Segoe UI"/>
              </a:defRPr>
            </a:pPr>
            <a:r>
              <a:t>Any Questions?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4206240"/>
            <a:ext cx="5790895" cy="1463040"/>
          </a:xfrm>
          <a:prstGeom prst="roundRect">
            <a:avLst/>
          </a:prstGeom>
          <a:solidFill>
            <a:srgbClr val="F6F3FA"/>
          </a:solidFill>
          <a:ln w="12700">
            <a:solidFill>
              <a:srgbClr val="D7C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0" y="4343400"/>
            <a:ext cx="560801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82583"/>
                </a:solidFill>
                <a:latin typeface="Segoe UI"/>
              </a:defRPr>
            </a:pPr>
            <a:r>
              <a:t>GitHub: github.com/GokulkrishnaR31/AQI-ANALYSIS-R</a:t>
            </a:r>
          </a:p>
          <a:p>
            <a:pPr algn="ctr">
              <a:defRPr sz="1200">
                <a:solidFill>
                  <a:srgbClr val="23232D"/>
                </a:solidFill>
                <a:latin typeface="Segoe UI"/>
              </a:defRPr>
            </a:pPr>
            <a:r>
              <a:t>Email: [your-email@rajalakshmi.edu.in]</a:t>
            </a:r>
            <a:br/>
            <a:r>
              <a:t>Department of Information Technology, REC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